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669280" cy="50886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54864"/>
            <a:ext cx="3474720" cy="5088636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pic>
        <p:nvPicPr>
          <p:cNvPr id="5" name="Image 0" descr="/home/claude/logo_V5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47472"/>
            <a:ext cx="1417320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005840"/>
            <a:ext cx="82296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0789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9BB0"/>
                </a:solidFill>
              </a:rPr>
              <a:t>BRAND &amp; TYPOGRAPHY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02920" y="13350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 Guide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502920" y="20299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4A6B"/>
                </a:solidFill>
              </a:rPr>
              <a:t>Design System Reference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24871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BB0"/>
                </a:solidFill>
              </a:rPr>
              <a:t>V53 AI Cluster  ·  NODUM AI Competence Hub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BB0"/>
                </a:solidFill>
              </a:rPr>
              <a:t>For use with Claude document generation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3401568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" y="3493008"/>
            <a:ext cx="14264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974750" y="3996842"/>
            <a:ext cx="629107" cy="20117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4044848"/>
            <a:ext cx="14264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9BB0"/>
                </a:solidFill>
              </a:rPr>
              <a:t>Logos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9BB0"/>
                </a:solidFill>
              </a:rPr>
              <a:t>V53 + NODUM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212848" y="3401568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286000" y="3493008"/>
            <a:ext cx="14264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2684678" y="3996842"/>
            <a:ext cx="629107" cy="20117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86000" y="4044848"/>
            <a:ext cx="14264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9BB0"/>
                </a:solidFill>
              </a:rPr>
              <a:t>Colour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9BB0"/>
                </a:solidFill>
              </a:rPr>
              <a:t>Tokens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3922776" y="3401568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995928" y="3493008"/>
            <a:ext cx="14264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10+</a:t>
            </a:r>
            <a:endParaRPr lang="en-US" sz="2600" dirty="0"/>
          </a:p>
        </p:txBody>
      </p:sp>
      <p:sp>
        <p:nvSpPr>
          <p:cNvPr id="21" name="Shape 18"/>
          <p:cNvSpPr/>
          <p:nvPr/>
        </p:nvSpPr>
        <p:spPr>
          <a:xfrm>
            <a:off x="4394606" y="3996842"/>
            <a:ext cx="629107" cy="20117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95928" y="4044848"/>
            <a:ext cx="14264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9BB0"/>
                </a:solidFill>
              </a:rPr>
              <a:t>Components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9BB0"/>
                </a:solidFill>
              </a:rPr>
              <a:t>Documented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02920" y="4800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CDD6"/>
                </a:solidFill>
              </a:rPr>
              <a:t>May 2026  ·  Version 1.0  ·  Internal Reference</a:t>
            </a:r>
            <a:endParaRPr lang="en-US" sz="800" dirty="0"/>
          </a:p>
        </p:txBody>
      </p:sp>
      <p:pic>
        <p:nvPicPr>
          <p:cNvPr id="24" name="Image 1" descr="/home/claude/logo_NODU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70448" y="502920"/>
            <a:ext cx="3035808" cy="80467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870448" y="1481328"/>
            <a:ext cx="2926080" cy="22860"/>
          </a:xfrm>
          <a:prstGeom prst="rect">
            <a:avLst/>
          </a:prstGeom>
          <a:solidFill>
            <a:srgbClr val="304A60"/>
          </a:solidFill>
          <a:ln w="12700">
            <a:solidFill>
              <a:srgbClr val="304A6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870448" y="1572768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07A8C"/>
                </a:solidFill>
              </a:rPr>
              <a:t>Competence Hub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870448" y="1965960"/>
            <a:ext cx="22860" cy="347472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016752" y="1965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Typography System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5870448" y="2487168"/>
            <a:ext cx="22860" cy="347472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016752" y="2487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Colour Palette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5870448" y="3008376"/>
            <a:ext cx="22860" cy="347472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016752" y="3008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Component Library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5870448" y="3529584"/>
            <a:ext cx="22860" cy="347472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016752" y="35295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Layout Templates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5870448" y="4050792"/>
            <a:ext cx="22860" cy="347472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016752" y="4050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Code Constants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5870448" y="4828032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05A6A"/>
                </a:solidFill>
              </a:rPr>
              <a:t>infra enabling 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FFFFF"/>
                </a:solidFill>
              </a:rPr>
              <a:t>01 · LOGOS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Logo Assets &amp; Usage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52144"/>
            <a:ext cx="109728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4358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Both logos available in PNG and SVG — use as specified below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536192"/>
            <a:ext cx="3977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6002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A9BB0"/>
                </a:solidFill>
              </a:rPr>
              <a:t>V53 AI CLUSTER</a:t>
            </a:r>
            <a:endParaRPr lang="en-US" sz="700" dirty="0"/>
          </a:p>
        </p:txBody>
      </p:sp>
      <p:pic>
        <p:nvPicPr>
          <p:cNvPr id="9" name="Image 0" descr="/home/claude/logo_V5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3246120" cy="12984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3310128"/>
            <a:ext cx="3474720" cy="22860"/>
          </a:xfrm>
          <a:prstGeom prst="rect">
            <a:avLst/>
          </a:prstGeom>
          <a:solidFill>
            <a:srgbClr val="DDE1E7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3832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logo_V53.png  ·  400×160px  ·  Aspect 2.5:1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66928" y="35661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Also available: logo_V53.svg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709160" y="1536192"/>
            <a:ext cx="4023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64608" y="16002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A9BB0"/>
                </a:solidFill>
              </a:rPr>
              <a:t>NODUM AI COMPETENCE HUB</a:t>
            </a:r>
            <a:endParaRPr lang="en-US" sz="700" dirty="0"/>
          </a:p>
        </p:txBody>
      </p:sp>
      <p:pic>
        <p:nvPicPr>
          <p:cNvPr id="15" name="Image 1" descr="/home/claude/logo_NODU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2011680"/>
            <a:ext cx="3566160" cy="9418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864608" y="3310128"/>
            <a:ext cx="3474720" cy="22860"/>
          </a:xfrm>
          <a:prstGeom prst="rect">
            <a:avLst/>
          </a:prstGeom>
          <a:solidFill>
            <a:srgbClr val="DDE1E7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64608" y="33832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logo_NODUM.png  ·  400×105px  ·  Aspect 3.8:1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4864608" y="35661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Also available: logo_Nodum.svg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411480" y="3977640"/>
            <a:ext cx="83210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11480" y="3977640"/>
            <a:ext cx="832104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94360" y="40599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D4A"/>
                </a:solidFill>
              </a:rPr>
              <a:t>PPTX Placement Specs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94360" y="43342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V53 cover:    x:0.55  y:0.38  w:1.55  h:0.58  contain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94360" y="45354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V53 footer:   x:8.25  y:0.22  w:1.40  h:0.55  contain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754880" y="43342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NODUM cover:  x:6.45  y:0.55  w:3.30  h:0.75  contain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754880" y="45354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NODUM footer: x:0.35  y:1.15  w:2.50  h:0.66  contain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FFFFF"/>
                </a:solidFill>
              </a:rPr>
              <a:t>02 · COLOURS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 Palette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52144"/>
            <a:ext cx="109728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4358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Navy + Amber + Greys — no teal, no indigo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1371600" cy="573512"/>
          </a:xfrm>
          <a:prstGeom prst="rect">
            <a:avLst/>
          </a:prstGeom>
          <a:solidFill>
            <a:srgbClr val="002D4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44752"/>
            <a:ext cx="54864" cy="573512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018264"/>
            <a:ext cx="1371600" cy="450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365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D4A"/>
                </a:solidFill>
              </a:rPr>
              <a:t>Navy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2560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8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#002D4A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2420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8A9BB0"/>
                </a:solidFill>
              </a:rPr>
              <a:t>Authority · Headers · Dark panels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737360" y="1444752"/>
            <a:ext cx="1371600" cy="573512"/>
          </a:xfrm>
          <a:prstGeom prst="rect">
            <a:avLst/>
          </a:prstGeom>
          <a:solidFill>
            <a:srgbClr val="F58E3C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1444752"/>
            <a:ext cx="54864" cy="573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37360" y="2018264"/>
            <a:ext cx="1371600" cy="450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20365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D4A"/>
                </a:solidFill>
              </a:rPr>
              <a:t>Amber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83080" y="22560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8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#F58E3C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783080" y="2420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8A9BB0"/>
                </a:solidFill>
              </a:rPr>
              <a:t>Accent · Rules · CTAs · Data callouts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154680" y="1444752"/>
            <a:ext cx="1371600" cy="573512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2018264"/>
            <a:ext cx="1371600" cy="450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0365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D4A"/>
                </a:solidFill>
              </a:rPr>
              <a:t>Cloud White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00400" y="22560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8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#F7F8FA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00400" y="2420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8A9BB0"/>
                </a:solidFill>
              </a:rPr>
              <a:t>Slide / page background (primary)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572000" y="1444752"/>
            <a:ext cx="1371600" cy="573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2018264"/>
            <a:ext cx="1371600" cy="450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0365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D4A"/>
                </a:solidFill>
              </a:rPr>
              <a:t>Pure White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17720" y="22560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8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17720" y="2420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8A9BB0"/>
                </a:solidFill>
              </a:rPr>
              <a:t>Card fill · text areas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989320" y="1444752"/>
            <a:ext cx="1371600" cy="573512"/>
          </a:xfrm>
          <a:prstGeom prst="rect">
            <a:avLst/>
          </a:prstGeom>
          <a:solidFill>
            <a:srgbClr val="EBECEE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9320" y="2018264"/>
            <a:ext cx="1371600" cy="450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0365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D4A"/>
                </a:solidFill>
              </a:rPr>
              <a:t>Warm Grey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035040" y="22560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8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#EBECEE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035040" y="2420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8A9BB0"/>
                </a:solidFill>
              </a:rPr>
              <a:t>Surface dividers · card borders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7406640" y="1444752"/>
            <a:ext cx="1371600" cy="573512"/>
          </a:xfrm>
          <a:prstGeom prst="rect">
            <a:avLst/>
          </a:prstGeom>
          <a:solidFill>
            <a:srgbClr val="DDE1E7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06640" y="2018264"/>
            <a:ext cx="1371600" cy="450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52360" y="20365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D4A"/>
                </a:solidFill>
              </a:rPr>
              <a:t>Grid Line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452360" y="22560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8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#DDE1E7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452360" y="2420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8A9BB0"/>
                </a:solidFill>
              </a:rPr>
              <a:t>Table rules · subtle separators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20040" y="2560320"/>
            <a:ext cx="1371600" cy="573512"/>
          </a:xfrm>
          <a:prstGeom prst="rect">
            <a:avLst/>
          </a:prstGeom>
          <a:solidFill>
            <a:srgbClr val="0D1B2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133832"/>
            <a:ext cx="1371600" cy="450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1521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D4A"/>
                </a:solidFill>
              </a:rPr>
              <a:t>Near-Black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5760" y="33715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8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#0D1B2A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65760" y="35361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8A9BB0"/>
                </a:solidFill>
              </a:rPr>
              <a:t>Display headings (max weight)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1737360" y="2560320"/>
            <a:ext cx="1371600" cy="573512"/>
          </a:xfrm>
          <a:prstGeom prst="rect">
            <a:avLst/>
          </a:prstGeom>
          <a:solidFill>
            <a:srgbClr val="1A4A6B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37360" y="3133832"/>
            <a:ext cx="1371600" cy="450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83080" y="31521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D4A"/>
                </a:solidFill>
              </a:rPr>
              <a:t>Mid Navy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783080" y="33715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8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#1A4A6B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783080" y="35361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8A9BB0"/>
                </a:solidFill>
              </a:rPr>
              <a:t>Sub-headings · supporting text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154680" y="2560320"/>
            <a:ext cx="1371600" cy="573512"/>
          </a:xfrm>
          <a:prstGeom prst="rect">
            <a:avLst/>
          </a:prstGeom>
          <a:solidFill>
            <a:srgbClr val="8A9BB0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54680" y="3133832"/>
            <a:ext cx="1371600" cy="450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0" y="31521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D4A"/>
                </a:solidFill>
              </a:rPr>
              <a:t>Slate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00400" y="33715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8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#8A9BB0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200400" y="35361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8A9BB0"/>
                </a:solidFill>
              </a:rPr>
              <a:t>Captions · secondary labels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4572000" y="2560320"/>
            <a:ext cx="1371600" cy="573512"/>
          </a:xfrm>
          <a:prstGeom prst="rect">
            <a:avLst/>
          </a:prstGeom>
          <a:solidFill>
            <a:srgbClr val="C5CDD6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0" y="3133832"/>
            <a:ext cx="1371600" cy="450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17720" y="31521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D4A"/>
                </a:solidFill>
              </a:rPr>
              <a:t>Navy Dim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617720" y="33715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8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#C5CDD6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617720" y="35361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8A9BB0"/>
                </a:solidFill>
              </a:rPr>
              <a:t>Decorative rules · disabled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5989320" y="2560320"/>
            <a:ext cx="1371600" cy="573512"/>
          </a:xfrm>
          <a:prstGeom prst="rect">
            <a:avLst/>
          </a:prstGeom>
          <a:solidFill>
            <a:srgbClr val="FDF0E4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89320" y="3133832"/>
            <a:ext cx="1371600" cy="450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35040" y="31521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D4A"/>
                </a:solidFill>
              </a:rPr>
              <a:t>Amber Pale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035040" y="33715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8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#FDF0E4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035040" y="35361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8A9BB0"/>
                </a:solidFill>
              </a:rPr>
              <a:t>Amber-tinted card background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7406640" y="2560320"/>
            <a:ext cx="1371600" cy="573512"/>
          </a:xfrm>
          <a:prstGeom prst="rect">
            <a:avLst/>
          </a:prstGeom>
          <a:solidFill>
            <a:srgbClr val="006B78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406640" y="3133832"/>
            <a:ext cx="1371600" cy="450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52360" y="31521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D4A"/>
                </a:solidFill>
              </a:rPr>
              <a:t>Dark Teal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452360" y="33715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8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#006B78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452360" y="35361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8A9BB0"/>
                </a:solidFill>
              </a:rPr>
              <a:t>Ecosystem partner nodes only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320040" y="4480560"/>
            <a:ext cx="8503920" cy="475488"/>
          </a:xfrm>
          <a:prstGeom prst="rect">
            <a:avLst/>
          </a:prstGeom>
          <a:solidFill>
            <a:srgbClr val="FFF0F0"/>
          </a:solidFill>
          <a:ln w="12700">
            <a:solidFill>
              <a:srgbClr val="E080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0000"/>
                </a:solidFill>
              </a:rPr>
              <a:t>❌  FORBIDDEN:  Teal #0091A0  ·  Indigo #5C4999  ·  Cream / Beige backgrounds  ·  Any warm-neutral defaults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FFFFF"/>
                </a:solidFill>
              </a:rPr>
              <a:t>03 · TYPOGRAPHY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Scale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52144"/>
            <a:ext cx="109728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4358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Trebuchet MS for display · Calibri for body · no other fonts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5212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81328"/>
            <a:ext cx="36576" cy="512064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49961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9BB0"/>
                </a:solidFill>
              </a:rPr>
              <a:t>Cover Title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17007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V53 AI Cluster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5212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029968"/>
            <a:ext cx="36576" cy="512064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04825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9BB0"/>
                </a:solidFill>
              </a:rPr>
              <a:t>Slide Title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21208" y="22494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 Ecosystem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11480" y="2578608"/>
            <a:ext cx="5212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578608"/>
            <a:ext cx="36576" cy="512064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259689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9BB0"/>
                </a:solidFill>
              </a:rPr>
              <a:t>Card Title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1208" y="27980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&amp; Hydrogen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3127248"/>
            <a:ext cx="5212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127248"/>
            <a:ext cx="36576" cy="512064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314553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9BB0"/>
                </a:solidFill>
              </a:rPr>
              <a:t>Body Text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21208" y="33467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V53 adopts a phased, modular development approach.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675888"/>
            <a:ext cx="5212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675888"/>
            <a:ext cx="36576" cy="512064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36941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9BB0"/>
                </a:solidFill>
              </a:rPr>
              <a:t>Caption / Label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21208" y="38953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Veendam, Netherlands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4224528"/>
            <a:ext cx="5212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4224528"/>
            <a:ext cx="36576" cy="512064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424281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9BB0"/>
                </a:solidFill>
              </a:rPr>
              <a:t>Badge Text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1208" y="44439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5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· ENERGY  (charSpacing: 2pt)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897880" y="1481328"/>
            <a:ext cx="2834640" cy="3438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97880" y="1481328"/>
            <a:ext cx="2834640" cy="22860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53328" y="1572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D4A"/>
                </a:solidFill>
              </a:rPr>
              <a:t>Type Specifications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53328" y="1865376"/>
            <a:ext cx="256032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97880" y="1956816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61888" y="20116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D4A"/>
                </a:solidFill>
              </a:rPr>
              <a:t>Cover Title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995160" y="2011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</a:rPr>
              <a:t>Trebuchet MS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635240" y="201168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8E3C"/>
                </a:solidFill>
              </a:rPr>
              <a:t>50–54pt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897880" y="2304288"/>
            <a:ext cx="2834640" cy="329184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61888" y="23591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D4A"/>
                </a:solidFill>
              </a:rPr>
              <a:t>Section Div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995160" y="23591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</a:rPr>
              <a:t>Trebuchet MS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635240" y="23591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8E3C"/>
                </a:solidFill>
              </a:rPr>
              <a:t>48–52pt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897880" y="2651760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61888" y="27066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D4A"/>
                </a:solidFill>
              </a:rPr>
              <a:t>Slide Title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995160" y="27066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</a:rPr>
              <a:t>Trebuchet MS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635240" y="270662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8E3C"/>
                </a:solidFill>
              </a:rPr>
              <a:t>32–36pt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897880" y="2999232"/>
            <a:ext cx="2834640" cy="329184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61888" y="30540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D4A"/>
                </a:solidFill>
              </a:rPr>
              <a:t>Card Title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995160" y="30540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</a:rPr>
              <a:t>Trebuchet MS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635240" y="30540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8E3C"/>
                </a:solidFill>
              </a:rPr>
              <a:t>14–16pt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897880" y="3346704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61888" y="34015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D4A"/>
                </a:solidFill>
              </a:rPr>
              <a:t>Body Text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995160" y="34015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</a:rPr>
              <a:t>Calibri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635240" y="34015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8E3C"/>
                </a:solidFill>
              </a:rPr>
              <a:t>10–12pt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897880" y="3694176"/>
            <a:ext cx="2834640" cy="329184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61888" y="37490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D4A"/>
                </a:solidFill>
              </a:rPr>
              <a:t>Caption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995160" y="37490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</a:rPr>
              <a:t>Calibri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635240" y="37490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8E3C"/>
                </a:solidFill>
              </a:rPr>
              <a:t>7.5–9pt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897880" y="4041648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61888" y="40965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D4A"/>
                </a:solidFill>
              </a:rPr>
              <a:t>Badge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995160" y="4096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</a:rPr>
              <a:t>Calibri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635240" y="409651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8E3C"/>
                </a:solidFill>
              </a:rPr>
              <a:t>6.5pt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5897880" y="4389120"/>
            <a:ext cx="2834640" cy="329184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61888" y="44439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D4A"/>
                </a:solidFill>
              </a:rPr>
              <a:t>Stat Number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995160" y="44439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</a:rPr>
              <a:t>Trebuchet MS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7635240" y="444398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8E3C"/>
                </a:solidFill>
              </a:rPr>
              <a:t>24–32pt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solidFill>
            <a:srgbClr val="FDF0E4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2D4A"/>
                </a:solidFill>
              </a:rPr>
              <a:t>Only Trebuchet MS + Calibri  ·  Arial as system fallback only  ·  No other fonts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FFFFF"/>
                </a:solidFill>
              </a:rPr>
              <a:t>04 · COMPONENTS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Badges · Rules · Item Rows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52144"/>
            <a:ext cx="109728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4358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The three core atomic elements — used on every slide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D4A"/>
                </a:solidFill>
              </a:rPr>
              <a:t>Section Badges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2011680" cy="237744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288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FFFFF"/>
                </a:solidFill>
              </a:rPr>
              <a:t>ECOSYSTEM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11480" y="2194560"/>
            <a:ext cx="2011680" cy="237744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945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FFFFF"/>
                </a:solidFill>
              </a:rPr>
              <a:t>ECOSYSTEM · ENERGY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11480" y="2560320"/>
            <a:ext cx="2011680" cy="237744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603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FFFFF"/>
                </a:solidFill>
              </a:rPr>
              <a:t>MVP · OVERVIEW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11480" y="2926080"/>
            <a:ext cx="2011680" cy="237744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260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FFFFF"/>
                </a:solidFill>
              </a:rPr>
              <a:t>COLLABORATION · 01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11480" y="33375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0"/>
                </a:solidFill>
              </a:rPr>
              <a:t>Rectangle · navy fill · NO radius · 6.5pt Calibri Bold · 2pt charSpacing · ALL CAPS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3584448"/>
            <a:ext cx="3749040" cy="219456"/>
          </a:xfrm>
          <a:prstGeom prst="rect">
            <a:avLst/>
          </a:prstGeom>
          <a:solidFill>
            <a:srgbClr val="F0F2F4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" y="35844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4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fill:{ color:"002D4A" }  · No border-radius  · h:0.25"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63440" y="14813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D4A"/>
                </a:solidFill>
              </a:rPr>
              <a:t>Amber Hairline Rules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8288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Title — Example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63440" y="2267712"/>
            <a:ext cx="109728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3408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0"/>
                </a:solidFill>
              </a:rPr>
              <a:t>✅ Short rule (w:1.2") — correct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3440" y="26517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Another Example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3017520"/>
            <a:ext cx="4023360" cy="22860"/>
          </a:xfrm>
          <a:prstGeom prst="rect">
            <a:avLst/>
          </a:prstGeom>
          <a:solidFill>
            <a:srgbClr val="E08080"/>
          </a:solidFill>
          <a:ln w="12700">
            <a:solidFill>
              <a:srgbClr val="E08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0723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0"/>
                </a:solidFill>
              </a:rPr>
              <a:t>❌ Full-width bar — NEVER USE THIS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342900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28032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D4A"/>
                </a:solidFill>
              </a:rPr>
              <a:t>Card Title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3767328"/>
            <a:ext cx="356616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8221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Card body text follows the amber rule divider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42062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0"/>
                </a:solidFill>
              </a:rPr>
              <a:t>✅ Card internal rule (full card width −0.4")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1480" y="38862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D4A"/>
                </a:solidFill>
              </a:rPr>
              <a:t>Item Rows (Amber Dash)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1696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8E3C"/>
                </a:solidFill>
              </a:rPr>
              <a:t>— </a:t>
            </a:r>
            <a:pPr indent="0" marL="0">
              <a:buNone/>
            </a:pPr>
            <a:r>
              <a:rPr lang="en-US" sz="1000" dirty="0">
                <a:solidFill>
                  <a:srgbClr val="002D4A"/>
                </a:solidFill>
              </a:rPr>
              <a:t>Up to 50 MW IT load — modular, sovereign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44622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8E3C"/>
                </a:solidFill>
              </a:rPr>
              <a:t>— </a:t>
            </a:r>
            <a:pPr indent="0" marL="0">
              <a:buNone/>
            </a:pPr>
            <a:r>
              <a:rPr lang="en-US" sz="1000" dirty="0">
                <a:solidFill>
                  <a:srgbClr val="002D4A"/>
                </a:solidFill>
              </a:rPr>
              <a:t>Hybrid air/liquid cooling · PUE 1.175–1.2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4754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8E3C"/>
                </a:solidFill>
              </a:rPr>
              <a:t>— </a:t>
            </a:r>
            <a:pPr indent="0" marL="0">
              <a:buNone/>
            </a:pPr>
            <a:r>
              <a:rPr lang="en-US" sz="1000" dirty="0">
                <a:solidFill>
                  <a:srgbClr val="002D4A"/>
                </a:solidFill>
              </a:rPr>
              <a:t>100% renewable + green hydrogen resilience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4846320"/>
            <a:ext cx="4023360" cy="219456"/>
          </a:xfrm>
          <a:prstGeom prst="rect">
            <a:avLst/>
          </a:prstGeom>
          <a:solidFill>
            <a:srgbClr val="F0F2F4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" y="48463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4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text:"— ", options:{ color:"F58E3C", bold:true } }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FFFFF"/>
                </a:solidFill>
              </a:rPr>
              <a:t>04 · COMPONENTS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Cards · Stat Boxes · Authority Blocks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52144"/>
            <a:ext cx="109728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4358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The three card types — white card, data stat, navy authority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D4A"/>
                </a:solidFill>
              </a:rPr>
              <a:t>White Card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792224"/>
            <a:ext cx="25603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792224"/>
            <a:ext cx="2560320" cy="22860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6537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 with Navy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Accent Rule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304288"/>
            <a:ext cx="224028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957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Body text inside white card. Calibri 9–10pt, colour #444444. Line spacing 1.35×.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3456432"/>
            <a:ext cx="2560320" cy="256032"/>
          </a:xfrm>
          <a:prstGeom prst="rect">
            <a:avLst/>
          </a:prstGeom>
          <a:solidFill>
            <a:srgbClr val="EBECEE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456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</a:rPr>
              <a:t>Footer row · €10–30K  /  6–12 wks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3794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0"/>
                </a:solidFill>
              </a:rPr>
              <a:t>White fill · 1pt gridLine border · 0.07 shadow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4005072"/>
            <a:ext cx="2651760" cy="219456"/>
          </a:xfrm>
          <a:prstGeom prst="rect">
            <a:avLst/>
          </a:prstGeom>
          <a:solidFill>
            <a:srgbClr val="F0F2F4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" y="40050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4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fill:"FFFFFF" · line:{"DDE1E7",pt:1} · shadow:mk()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46120" y="14813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D4A"/>
                </a:solidFill>
              </a:rPr>
              <a:t>Data Stat Boxes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792224"/>
            <a:ext cx="120700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19272" y="1883664"/>
            <a:ext cx="1060704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MW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3608222" y="2597262"/>
            <a:ext cx="482803" cy="20117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662184"/>
            <a:ext cx="1060704" cy="38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9BB0"/>
                </a:solidFill>
              </a:rPr>
              <a:t>AI Compute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9BB0"/>
                </a:solidFill>
              </a:rPr>
              <a:t>Capacity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0" y="1792224"/>
            <a:ext cx="120700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45152" y="1883664"/>
            <a:ext cx="1060704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'27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4934102" y="2597262"/>
            <a:ext cx="482803" cy="20117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2662184"/>
            <a:ext cx="1060704" cy="38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9BB0"/>
                </a:solidFill>
              </a:rPr>
              <a:t>MVP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9BB0"/>
                </a:solidFill>
              </a:rPr>
              <a:t>Go-Live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46120" y="3200400"/>
            <a:ext cx="120700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19272" y="3291840"/>
            <a:ext cx="1060704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3608222" y="4005438"/>
            <a:ext cx="482803" cy="20117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9272" y="4070360"/>
            <a:ext cx="1060704" cy="38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9BB0"/>
                </a:solidFill>
              </a:rPr>
              <a:t>Core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9BB0"/>
                </a:solidFill>
              </a:rPr>
              <a:t>Services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0" y="3200400"/>
            <a:ext cx="120700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45152" y="3291840"/>
            <a:ext cx="1060704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€4.96M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4934102" y="4005438"/>
            <a:ext cx="482803" cy="20117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4070360"/>
            <a:ext cx="1060704" cy="38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9BB0"/>
                </a:solidFill>
              </a:rPr>
              <a:t>CAPEX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9BB0"/>
                </a:solidFill>
              </a:rPr>
              <a:t>ROM excl. VAT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246120" y="45720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0"/>
                </a:solidFill>
              </a:rPr>
              <a:t>Trebuchet MS Bold · amber rule · Calibri slate label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989320" y="14813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D4A"/>
                </a:solidFill>
              </a:rPr>
              <a:t>Navy Authority Block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1792224"/>
            <a:ext cx="2651760" cy="2066544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144768" y="19019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8E3C"/>
                </a:solidFill>
              </a:rPr>
              <a:t>CAPEX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44768" y="21031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€4.96M</a:t>
            </a:r>
            <a:endParaRPr lang="en-US" sz="3400" dirty="0"/>
          </a:p>
        </p:txBody>
      </p:sp>
      <p:sp>
        <p:nvSpPr>
          <p:cNvPr id="40" name="Shape 38"/>
          <p:cNvSpPr/>
          <p:nvPr/>
        </p:nvSpPr>
        <p:spPr>
          <a:xfrm>
            <a:off x="6144768" y="2724912"/>
            <a:ext cx="2331720" cy="22860"/>
          </a:xfrm>
          <a:prstGeom prst="rect">
            <a:avLst/>
          </a:prstGeom>
          <a:solidFill>
            <a:srgbClr val="304A60"/>
          </a:solidFill>
          <a:ln w="12700">
            <a:solidFill>
              <a:srgbClr val="304A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44768" y="28163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A8C"/>
                </a:solidFill>
              </a:rPr>
              <a:t>ROM excl. VAT  ·  HPE POD MDC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44768" y="3017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B8C8"/>
                </a:solidFill>
              </a:rPr>
              <a:t>20-yr LCC: €27.3M  (551%)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44768" y="321868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8A9A"/>
                </a:solidFill>
              </a:rPr>
              <a:t>PUE 1.2  ·  WUE 0.31  ·  600 m²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989320" y="3931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0"/>
                </a:solidFill>
              </a:rPr>
              <a:t>Navy fill · use max 1–2 per deck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989320" y="4133088"/>
            <a:ext cx="2651760" cy="256032"/>
          </a:xfrm>
          <a:prstGeom prst="rect">
            <a:avLst/>
          </a:prstGeom>
          <a:solidFill>
            <a:srgbClr val="FDF0E4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80760" y="4133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D4A"/>
                </a:solidFill>
              </a:rPr>
              <a:t>⚠  Use sparingly — maximum 1–2 navy blocks per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FFFFF"/>
                </a:solidFill>
              </a:rPr>
              <a:t>05 · LAYOUT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 Grid &amp; Spacing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52144"/>
            <a:ext cx="109728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4358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10" × 5.625" slide · 0.45" safe margins · consistent rhythm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8321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Safe Zone:  x:0.45"  y:0.35"  w:9.1"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2-col equal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75488" y="1920240"/>
            <a:ext cx="4023360" cy="311810"/>
          </a:xfrm>
          <a:prstGeom prst="rect">
            <a:avLst/>
          </a:prstGeom>
          <a:solidFill>
            <a:srgbClr val="EBECEE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920240"/>
            <a:ext cx="40233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2D4A"/>
                </a:solidFill>
              </a:rPr>
              <a:t>w:4.4"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636008" y="1920240"/>
            <a:ext cx="4023360" cy="311810"/>
          </a:xfrm>
          <a:prstGeom prst="rect">
            <a:avLst/>
          </a:prstGeom>
          <a:solidFill>
            <a:srgbClr val="D0DDE8"/>
          </a:solidFill>
          <a:ln w="12700">
            <a:solidFill>
              <a:srgbClr val="1A4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920240"/>
            <a:ext cx="40233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4A6B"/>
                </a:solidFill>
              </a:rPr>
              <a:t>w:4.4"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75488" y="23774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2-col split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75488" y="2560320"/>
            <a:ext cx="5074920" cy="311810"/>
          </a:xfrm>
          <a:prstGeom prst="rect">
            <a:avLst/>
          </a:prstGeom>
          <a:solidFill>
            <a:srgbClr val="EBECEE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560320"/>
            <a:ext cx="50749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2D4A"/>
                </a:solidFill>
              </a:rPr>
              <a:t>w:5.55"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687568" y="2560320"/>
            <a:ext cx="2926080" cy="311810"/>
          </a:xfrm>
          <a:prstGeom prst="rect">
            <a:avLst/>
          </a:prstGeom>
          <a:solidFill>
            <a:srgbClr val="D0DDE8"/>
          </a:solidFill>
          <a:ln w="12700">
            <a:solidFill>
              <a:srgbClr val="1A4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7568" y="2560320"/>
            <a:ext cx="292608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4A6B"/>
                </a:solidFill>
              </a:rPr>
              <a:t>w:3.2"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5488" y="30175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3-col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5488" y="3200400"/>
            <a:ext cx="2651760" cy="311810"/>
          </a:xfrm>
          <a:prstGeom prst="rect">
            <a:avLst/>
          </a:prstGeom>
          <a:solidFill>
            <a:srgbClr val="EBECEE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200400"/>
            <a:ext cx="26517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2D4A"/>
                </a:solidFill>
              </a:rPr>
              <a:t>w:2.9"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46120" y="3200400"/>
            <a:ext cx="2651760" cy="311810"/>
          </a:xfrm>
          <a:prstGeom prst="rect">
            <a:avLst/>
          </a:prstGeom>
          <a:solidFill>
            <a:srgbClr val="D0DDE8"/>
          </a:solidFill>
          <a:ln w="12700">
            <a:solidFill>
              <a:srgbClr val="1A4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3200400"/>
            <a:ext cx="26517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4A6B"/>
                </a:solidFill>
              </a:rPr>
              <a:t>w:2.9"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016752" y="3200400"/>
            <a:ext cx="2651760" cy="311810"/>
          </a:xfrm>
          <a:prstGeom prst="rect">
            <a:avLst/>
          </a:prstGeom>
          <a:solidFill>
            <a:srgbClr val="D0E8EB"/>
          </a:solidFill>
          <a:ln w="12700">
            <a:solidFill>
              <a:srgbClr val="006B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16752" y="3200400"/>
            <a:ext cx="26517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B78"/>
                </a:solidFill>
              </a:rPr>
              <a:t>w:2.9"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75488" y="3657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4-col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75488" y="3840480"/>
            <a:ext cx="2029968" cy="311810"/>
          </a:xfrm>
          <a:prstGeom prst="rect">
            <a:avLst/>
          </a:prstGeom>
          <a:solidFill>
            <a:srgbClr val="EBECEE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840480"/>
            <a:ext cx="202996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2D4A"/>
                </a:solidFill>
              </a:rPr>
              <a:t>w:2.22"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596896" y="3840480"/>
            <a:ext cx="2029968" cy="311810"/>
          </a:xfrm>
          <a:prstGeom prst="rect">
            <a:avLst/>
          </a:prstGeom>
          <a:solidFill>
            <a:srgbClr val="D0DDE8"/>
          </a:solidFill>
          <a:ln w="12700">
            <a:solidFill>
              <a:srgbClr val="1A4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96896" y="3840480"/>
            <a:ext cx="202996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4A6B"/>
                </a:solidFill>
              </a:rPr>
              <a:t>w:2.22"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718304" y="3840480"/>
            <a:ext cx="2029968" cy="311810"/>
          </a:xfrm>
          <a:prstGeom prst="rect">
            <a:avLst/>
          </a:prstGeom>
          <a:solidFill>
            <a:srgbClr val="D0E8EB"/>
          </a:solidFill>
          <a:ln w="12700">
            <a:solidFill>
              <a:srgbClr val="006B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3840480"/>
            <a:ext cx="202996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B78"/>
                </a:solidFill>
              </a:rPr>
              <a:t>w:2.22"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39712" y="3840480"/>
            <a:ext cx="896112" cy="311810"/>
          </a:xfrm>
          <a:prstGeom prst="rect">
            <a:avLst/>
          </a:prstGeom>
          <a:solidFill>
            <a:srgbClr val="FDF0E4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9712" y="3840480"/>
            <a:ext cx="89611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8E3C"/>
                </a:solidFill>
              </a:rPr>
              <a:t>w:0.98"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" y="4846320"/>
            <a:ext cx="832104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D4A"/>
                </a:solidFill>
              </a:rPr>
              <a:t>VERTICAL RHYTHM:  Badge y:0.28  ·  Title y:0.60  ·  Rule y:1.26  ·  Sub-label y:1.38  ·  Content start y:1.60+  ·  Footer y:5.28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FFFFF"/>
                </a:solidFill>
              </a:rPr>
              <a:t>06 · TEMPLATES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Interior Slide Template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52144"/>
            <a:ext cx="109728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4358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Standard layout used for all content slides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8321040" cy="3364992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618488"/>
            <a:ext cx="1188720" cy="182880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184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FFFFFF"/>
                </a:solidFill>
              </a:rPr>
              <a:t>SECTION NAME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594360" y="186537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Title — Trebuchet MS 32–36pt Bold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249424"/>
            <a:ext cx="731520" cy="16459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0428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Sub-label — 10pt Calibri slate — describes the slide content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2560320"/>
            <a:ext cx="248716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560320"/>
            <a:ext cx="2487168" cy="22860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334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D4A"/>
                </a:solidFill>
              </a:rPr>
              <a:t>Card 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898648"/>
            <a:ext cx="219456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9900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8E3C"/>
                </a:solidFill>
              </a:rPr>
              <a:t>— </a:t>
            </a:r>
            <a:pPr indent="0" marL="0">
              <a:buNone/>
            </a:pPr>
            <a:r>
              <a:rPr lang="en-US" sz="800" dirty="0">
                <a:solidFill>
                  <a:srgbClr val="002D4A"/>
                </a:solidFill>
              </a:rPr>
              <a:t>Item 1 text here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3282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8E3C"/>
                </a:solidFill>
              </a:rPr>
              <a:t>— </a:t>
            </a:r>
            <a:pPr indent="0" marL="0">
              <a:buNone/>
            </a:pPr>
            <a:r>
              <a:rPr lang="en-US" sz="800" dirty="0">
                <a:solidFill>
                  <a:srgbClr val="002D4A"/>
                </a:solidFill>
              </a:rPr>
              <a:t>Item 2 text here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35753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8E3C"/>
                </a:solidFill>
              </a:rPr>
              <a:t>— </a:t>
            </a:r>
            <a:pPr indent="0" marL="0">
              <a:buNone/>
            </a:pPr>
            <a:r>
              <a:rPr lang="en-US" sz="800" dirty="0">
                <a:solidFill>
                  <a:srgbClr val="002D4A"/>
                </a:solidFill>
              </a:rPr>
              <a:t>Item 3 text here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0" y="2560320"/>
            <a:ext cx="248716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560320"/>
            <a:ext cx="2487168" cy="22860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6334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D4A"/>
                </a:solidFill>
              </a:rPr>
              <a:t>Card 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2898648"/>
            <a:ext cx="219456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9900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8E3C"/>
                </a:solidFill>
              </a:rPr>
              <a:t>— </a:t>
            </a:r>
            <a:pPr indent="0" marL="0">
              <a:buNone/>
            </a:pPr>
            <a:r>
              <a:rPr lang="en-US" sz="800" dirty="0">
                <a:solidFill>
                  <a:srgbClr val="002D4A"/>
                </a:solidFill>
              </a:rPr>
              <a:t>Item 1 text here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37560" y="3282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8E3C"/>
                </a:solidFill>
              </a:rPr>
              <a:t>— </a:t>
            </a:r>
            <a:pPr indent="0" marL="0">
              <a:buNone/>
            </a:pPr>
            <a:r>
              <a:rPr lang="en-US" sz="800" dirty="0">
                <a:solidFill>
                  <a:srgbClr val="002D4A"/>
                </a:solidFill>
              </a:rPr>
              <a:t>Item 2 text here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37560" y="35753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8E3C"/>
                </a:solidFill>
              </a:rPr>
              <a:t>— </a:t>
            </a:r>
            <a:pPr indent="0" marL="0">
              <a:buNone/>
            </a:pPr>
            <a:r>
              <a:rPr lang="en-US" sz="800" dirty="0">
                <a:solidFill>
                  <a:srgbClr val="002D4A"/>
                </a:solidFill>
              </a:rPr>
              <a:t>Item 3 text here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806440" y="2560320"/>
            <a:ext cx="248716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806440" y="2560320"/>
            <a:ext cx="2487168" cy="22860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6334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D4A"/>
                </a:solidFill>
              </a:rPr>
              <a:t>Card 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0" y="2898648"/>
            <a:ext cx="219456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29900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8E3C"/>
                </a:solidFill>
              </a:rPr>
              <a:t>— </a:t>
            </a:r>
            <a:pPr indent="0" marL="0">
              <a:buNone/>
            </a:pPr>
            <a:r>
              <a:rPr lang="en-US" sz="800" dirty="0">
                <a:solidFill>
                  <a:srgbClr val="002D4A"/>
                </a:solidFill>
              </a:rPr>
              <a:t>Item 1 text here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43600" y="3282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8E3C"/>
                </a:solidFill>
              </a:rPr>
              <a:t>— </a:t>
            </a:r>
            <a:pPr indent="0" marL="0">
              <a:buNone/>
            </a:pPr>
            <a:r>
              <a:rPr lang="en-US" sz="800" dirty="0">
                <a:solidFill>
                  <a:srgbClr val="002D4A"/>
                </a:solidFill>
              </a:rPr>
              <a:t>Item 2 text here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43600" y="35753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8E3C"/>
                </a:solidFill>
              </a:rPr>
              <a:t>— </a:t>
            </a:r>
            <a:pPr indent="0" marL="0">
              <a:buNone/>
            </a:pPr>
            <a:r>
              <a:rPr lang="en-US" sz="800" dirty="0">
                <a:solidFill>
                  <a:srgbClr val="002D4A"/>
                </a:solidFill>
              </a:rPr>
              <a:t>Item 3 text here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20640" y="4846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02D4A"/>
                </a:solidFill>
              </a:rPr>
              <a:t>① Badge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02D4A"/>
                </a:solidFill>
              </a:rPr>
              <a:t>(navy rect, white caps)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230368" y="4828032"/>
            <a:ext cx="128016" cy="128016"/>
          </a:xfrm>
          <a:prstGeom prst="oval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4846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02D4A"/>
                </a:solidFill>
              </a:rPr>
              <a:t>② Title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02D4A"/>
                </a:solidFill>
              </a:rPr>
              <a:t>(Trebuchet MS Bold)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217920" y="4828032"/>
            <a:ext cx="128016" cy="128016"/>
          </a:xfrm>
          <a:prstGeom prst="oval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95744" y="4846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02D4A"/>
                </a:solidFill>
              </a:rPr>
              <a:t>③ Amber rule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02D4A"/>
                </a:solidFill>
              </a:rPr>
              <a:t>(short, w:1.2")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205472" y="4828032"/>
            <a:ext cx="128016" cy="128016"/>
          </a:xfrm>
          <a:prstGeom prst="oval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83296" y="4846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02D4A"/>
                </a:solidFill>
              </a:rPr>
              <a:t>④ Cards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02D4A"/>
                </a:solidFill>
              </a:rPr>
              <a:t>(white, 1pt border)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193024" y="4828032"/>
            <a:ext cx="128016" cy="128016"/>
          </a:xfrm>
          <a:prstGeom prst="oval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FFFFF"/>
                </a:solidFill>
              </a:rPr>
              <a:t>07 · CODE REFERENCE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PptxGenJS Constants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52144"/>
            <a:ext cx="109728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4358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Copy these constants into every new document build script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402336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81328"/>
            <a:ext cx="4023360" cy="22860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727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D4A"/>
                </a:solidFill>
              </a:rPr>
              <a:t>Colour Palette (P object)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1847088"/>
            <a:ext cx="365760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385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 = {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66928" y="21762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navy:      "002D4A",   // Authority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66928" y="24140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amber:     "F58E3C",   // Accent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6928" y="26517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white:     "FFFFFF",   // Cards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" y="28895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cloud:     "F7F8FA",   // Background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31272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warmGrey:  "EBECEE",   // Surfaces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33649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nearBlack: "0D1B2A",   // Display type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66928" y="36027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slate:     "8A9BB0",   // Secondary text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66928" y="38404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navyDim:   "C5CDD6",   // Muted rules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66928" y="40782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navyMid:   "1A4A6B",   // Sub-elements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6928" y="43159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amberPale: "FDF0E4",   // Tinted cards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66928" y="4553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gridLine:  "DDE1E7",   // Borders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6928" y="4791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63440" y="1481328"/>
            <a:ext cx="406908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52400" dist="50800" dir="78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481328"/>
            <a:ext cx="406908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5727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D4A"/>
                </a:solidFill>
              </a:rPr>
              <a:t>Utility Functions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28032" y="1847088"/>
            <a:ext cx="365760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93852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Shadow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28032" y="2139696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mk = () =&gt; ({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28032" y="234086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type:"outer", blur:12,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28032" y="254203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offset:4, angle:130,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28032" y="274320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color:"000000", opacity:0.07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28032" y="294436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28032" y="3145536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28032" y="334670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Amber hairline rule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28032" y="354787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hRule(s, x, y, w, c) {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28032" y="374904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s.addShape("rect", {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28032" y="395020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w, h:0.025,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28032" y="4151376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fill:{ color:c||P.amber },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28032" y="435254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line:{ color:c||P.amber }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28032" y="455371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28032" y="475488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FFFFF"/>
                </a:solidFill>
              </a:rPr>
              <a:t>08 · RULES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· Don't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52144"/>
            <a:ext cx="109728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4358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Critical rules for maintaining brand consistency in every document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4023360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813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 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865376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0195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Use Trebuchet MS Bold for all display headers (34pt+)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176272"/>
            <a:ext cx="4023360" cy="292608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21284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Use short amber hairline rules under titles (w ≤ 1.4")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487168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5237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Keep backgrounds: cloud white (#F7F8FA) for slides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798064"/>
            <a:ext cx="4023360" cy="292608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83464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Use navy authority blocks sparingly (max 1–2 per deck)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108960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14553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Place both logos — V53 top-left, NODUM on cover right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419856"/>
            <a:ext cx="4023360" cy="292608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45643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Use generous negative space — minimum 0.45" margins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730752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76732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Keep badge text: ALL CAPS, 2pt char spacing, navy fill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4041648"/>
            <a:ext cx="4023360" cy="292608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07822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Use amber "—" dash as list bullet replacement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4352544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38912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Apply 0.07 opacity outer shadow to all cards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4663440"/>
            <a:ext cx="4023360" cy="292608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70001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Keep all corners sharp — zero border-radius everywhere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1481328"/>
            <a:ext cx="4023360" cy="32918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4813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 DON'T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09160" y="1865376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190195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Use teal (#0091A0) or indigo (#5C4999) anywhere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2176272"/>
            <a:ext cx="4023360" cy="292608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221284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Use cream, beige, or warm-neutral backgrounds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2487168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25237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Use full-width amber bars as header or footer strips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2798064"/>
            <a:ext cx="4023360" cy="292608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283464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Add border-radius to any shape (corners must be sharp)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3108960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314553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Mix fonts beyond Trebuchet MS + Calibri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3419856"/>
            <a:ext cx="4023360" cy="292608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345643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Use amber for large fill areas — it's for rules only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3730752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376732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Use V53/NODUM brand blues (#3C72CA, #46CAF0) in slides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4041648"/>
            <a:ext cx="4023360" cy="292608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407822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Place more than 3 amber rules on a single slide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4352544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438912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Use italic for anything except taglines and captions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4663440"/>
            <a:ext cx="4023360" cy="292608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470001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002D4A"/>
                </a:solidFill>
              </a:rPr>
              <a:t>Stretch, recolour, or shadow the logos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20440" cy="5143500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520440" cy="54864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pic>
        <p:nvPicPr>
          <p:cNvPr id="4" name="Image 0" descr="/home/claude/logo_V5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347472"/>
            <a:ext cx="1417320" cy="566928"/>
          </a:xfrm>
          <a:prstGeom prst="rect">
            <a:avLst/>
          </a:prstGeom>
        </p:spPr>
      </p:pic>
      <p:pic>
        <p:nvPicPr>
          <p:cNvPr id="5" name="Image 1" descr="/home/claude/logo_NODU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024128"/>
            <a:ext cx="2377440" cy="62179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1783080"/>
            <a:ext cx="2971800" cy="22860"/>
          </a:xfrm>
          <a:prstGeom prst="rect">
            <a:avLst/>
          </a:prstGeom>
          <a:solidFill>
            <a:srgbClr val="304A60"/>
          </a:solidFill>
          <a:ln w="12700">
            <a:solidFill>
              <a:srgbClr val="304A6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19202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&amp;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Typography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 Guide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274320" y="3364992"/>
            <a:ext cx="297180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34564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8C8"/>
                </a:solidFill>
              </a:rPr>
              <a:t>Version 1.0  ·  May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36758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07A8C"/>
                </a:solidFill>
              </a:rPr>
              <a:t>For use with Claude AI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07A8C"/>
                </a:solidFill>
              </a:rPr>
              <a:t>document generation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74320" y="48463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05A6A"/>
                </a:solidFill>
              </a:rPr>
              <a:t>infra enabling AI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749040" y="3474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749040" y="713232"/>
            <a:ext cx="5029200" cy="22860"/>
          </a:xfrm>
          <a:prstGeom prst="rect">
            <a:avLst/>
          </a:prstGeom>
          <a:solidFill>
            <a:srgbClr val="F58E3C"/>
          </a:solidFill>
          <a:ln w="12700">
            <a:solidFill>
              <a:srgbClr val="F58E3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749040" y="8412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58E3C"/>
                </a:solidFill>
              </a:rPr>
              <a:t>BACKGROUNDS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3749040" y="104241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ground:  #F7F8FA  Cloud White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749040" y="122529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Cards/pages:   #FFFFFF  Pure White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749040" y="140817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Borders:       #DDE1E7  Grid Line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749040" y="16642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58E3C"/>
                </a:solidFill>
              </a:rPr>
              <a:t>PRIMARY TEXT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3749040" y="186537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      #0D1B2A  Near-Black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3749040" y="204825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Body:          #002D4A  Navy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749040" y="22311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Labels:        #8A9BB0  Slate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3749040" y="24871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58E3C"/>
                </a:solidFill>
              </a:rPr>
              <a:t>ACCENT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3749040" y="26883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/ CTA:   #F58E3C  Amber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3749040" y="287121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Tinted cards:  #FDF0E4  Amber Pale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749040" y="31272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58E3C"/>
                </a:solidFill>
              </a:rPr>
              <a:t>DISPLAY FONT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3749040" y="332841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Trebuchet MS  Bold  34–52pt PPTX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3749040" y="35844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58E3C"/>
                </a:solidFill>
              </a:rPr>
              <a:t>BODY FONT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3749040" y="378561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Calibri  Regular  10–12pt PPTX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3749040" y="40416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58E3C"/>
                </a:solidFill>
              </a:rPr>
              <a:t>V53 LOGO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3749040" y="424281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logo_V53.png  ·  Aspect 2.5:1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749040" y="44988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58E3C"/>
                </a:solidFill>
              </a:rPr>
              <a:t>NODUM LOGO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3749040" y="470001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2D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logo_NODUM.png  ·  Aspect 3.8:1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3749040" y="4773168"/>
            <a:ext cx="5029200" cy="274320"/>
          </a:xfrm>
          <a:prstGeom prst="rect">
            <a:avLst/>
          </a:prstGeom>
          <a:solidFill>
            <a:srgbClr val="FFF0F0"/>
          </a:solidFill>
          <a:ln w="12700">
            <a:solidFill>
              <a:srgbClr val="E0808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822192" y="47731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1A1A"/>
                </a:solidFill>
              </a:rPr>
              <a:t>❌  NO teal #0091A0  ·  NO indigo #5C4999  ·  NO rounded corners  ·  NO cream backgrounds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V53 · NODUM Brand &amp; Typography Style Guide</dc:title>
  <dc:subject>PptxGenJS Presentation</dc:subject>
  <dc:creator>PptxGenJS</dc:creator>
  <cp:lastModifiedBy>PptxGenJS</cp:lastModifiedBy>
  <cp:revision>1</cp:revision>
  <dcterms:created xsi:type="dcterms:W3CDTF">2026-05-05T12:57:57Z</dcterms:created>
  <dcterms:modified xsi:type="dcterms:W3CDTF">2026-05-05T12:57:57Z</dcterms:modified>
</cp:coreProperties>
</file>